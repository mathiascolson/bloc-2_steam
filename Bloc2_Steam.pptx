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6858000" cy="9144000"/>
  <p:embeddedFontLst>
    <p:embeddedFont>
      <p:font typeface="Inter Medium" panose="020B0604020202020204" charset="0"/>
      <p:regular r:id="rId11"/>
      <p:bold r:id="rId12"/>
      <p:italic r:id="rId13"/>
      <p:boldItalic r:id="rId14"/>
    </p:embeddedFont>
    <p:embeddedFont>
      <p:font typeface="Inter SemiBold" panose="020B060402020202020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1" roundtripDataSignature="AMtx7mjRpKbBYb5zYLMrPNMhoHya77bVn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14965"/>
    <a:srgbClr val="1B2838"/>
    <a:srgbClr val="FF4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8499" autoAdjust="0"/>
  </p:normalViewPr>
  <p:slideViewPr>
    <p:cSldViewPr snapToGrid="0">
      <p:cViewPr varScale="1">
        <p:scale>
          <a:sx n="129" d="100"/>
          <a:sy n="129" d="100"/>
        </p:scale>
        <p:origin x="110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1.xml"/><Relationship Id="rId21" Type="http://customschemas.google.com/relationships/presentationmetadata" Target="metadata"/><Relationship Id="rId7" Type="http://schemas.openxmlformats.org/officeDocument/2006/relationships/slide" Target="slides/slide5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97" name="Google Shape;9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6521bfe9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06" name="Google Shape;106;g3d6521bfe93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d6521bfe93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29" name="Google Shape;129;g3d6521bfe93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6521bfe9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39" name="Google Shape;139;g3d6521bfe9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49" name="Google Shape;14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65" name="Google Shape;165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2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3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3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3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3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3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60" name="Google Shape;60;p3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3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4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4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4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42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91" name="Google Shape;91;p4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FDAD2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"/>
          <p:cNvSpPr txBox="1">
            <a:spLocks noGrp="1"/>
          </p:cNvSpPr>
          <p:nvPr>
            <p:ph type="ctrTitle"/>
          </p:nvPr>
        </p:nvSpPr>
        <p:spPr>
          <a:xfrm>
            <a:off x="735474" y="1533146"/>
            <a:ext cx="8097441" cy="6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-FR" sz="4000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Projet Steam</a:t>
            </a:r>
            <a:endParaRPr sz="4000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00" name="Google Shape;100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0550" y="430537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>
            <a:spLocks noGrp="1"/>
          </p:cNvSpPr>
          <p:nvPr>
            <p:ph type="ctrTitle"/>
          </p:nvPr>
        </p:nvSpPr>
        <p:spPr>
          <a:xfrm>
            <a:off x="148174" y="2547750"/>
            <a:ext cx="8572079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 algn="l">
              <a:buSzPct val="231111"/>
            </a:pPr>
            <a:r>
              <a:rPr lang="fr-FR" sz="2800" dirty="0">
                <a:solidFill>
                  <a:schemeClr val="bg1"/>
                </a:solidFill>
              </a:rPr>
              <a:t>Explorer le marché Steam pour éclairer le positionnement d’un nouveau jeu</a:t>
            </a:r>
            <a:endParaRPr sz="2500" dirty="0">
              <a:solidFill>
                <a:schemeClr val="bg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fr-FR"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0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D1D1A4-FE8D-DEB5-A33E-309283A58D16}"/>
              </a:ext>
            </a:extLst>
          </p:cNvPr>
          <p:cNvSpPr txBox="1"/>
          <p:nvPr/>
        </p:nvSpPr>
        <p:spPr>
          <a:xfrm>
            <a:off x="212194" y="3080850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Analyse </a:t>
            </a:r>
            <a:r>
              <a:rPr lang="fr-FR" dirty="0" err="1"/>
              <a:t>PySpark</a:t>
            </a:r>
            <a:r>
              <a:rPr lang="fr-FR" dirty="0"/>
              <a:t> du catalogue, des prix, des genres et de la réception utilisateur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d6521bfe93_0_0"/>
          <p:cNvSpPr txBox="1">
            <a:spLocks noGrp="1"/>
          </p:cNvSpPr>
          <p:nvPr>
            <p:ph type="ctrTitle" idx="4294967295"/>
          </p:nvPr>
        </p:nvSpPr>
        <p:spPr>
          <a:xfrm>
            <a:off x="1192671" y="61331"/>
            <a:ext cx="7279787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500" dirty="0" err="1">
                <a:solidFill>
                  <a:srgbClr val="0E3449"/>
                </a:solidFill>
                <a:latin typeface="Inter SemiBold"/>
                <a:ea typeface="Inter SemiBold"/>
              </a:rPr>
              <a:t>Dataset</a:t>
            </a:r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 Steam : périmètre, structure et limites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09" name="Google Shape;109;g3d6521bfe93_0_0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g3d6521bfe93_0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140883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d6521bfe93_0_0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D709A9E1-E258-2B04-44C0-B556F51CC3C9}"/>
              </a:ext>
            </a:extLst>
          </p:cNvPr>
          <p:cNvSpPr txBox="1"/>
          <p:nvPr/>
        </p:nvSpPr>
        <p:spPr>
          <a:xfrm>
            <a:off x="189025" y="594431"/>
            <a:ext cx="85577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Steam permet d’analyser le marché du jeu PC à travers l’offre, les genres, les prix, les plateformes et les signaux de réception utilisateur.</a:t>
            </a:r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993E9D2F-155E-D0A4-CB71-A9C53A2F2FEF}"/>
              </a:ext>
            </a:extLst>
          </p:cNvPr>
          <p:cNvGrpSpPr/>
          <p:nvPr/>
        </p:nvGrpSpPr>
        <p:grpSpPr>
          <a:xfrm>
            <a:off x="1084892" y="1191991"/>
            <a:ext cx="2225473" cy="3057191"/>
            <a:chOff x="304800" y="721112"/>
            <a:chExt cx="2377952" cy="3992137"/>
          </a:xfrm>
        </p:grpSpPr>
        <p:sp>
          <p:nvSpPr>
            <p:cNvPr id="7" name="Rectangle : coins arrondis 6">
              <a:extLst>
                <a:ext uri="{FF2B5EF4-FFF2-40B4-BE49-F238E27FC236}">
                  <a16:creationId xmlns:a16="http://schemas.microsoft.com/office/drawing/2014/main" id="{067555CF-4AA4-8599-8FB5-FCDA47A589C5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" name="ZoneTexte 7">
              <a:extLst>
                <a:ext uri="{FF2B5EF4-FFF2-40B4-BE49-F238E27FC236}">
                  <a16:creationId xmlns:a16="http://schemas.microsoft.com/office/drawing/2014/main" id="{4502997B-33AC-E8E3-8970-77093CA703F9}"/>
                </a:ext>
              </a:extLst>
            </p:cNvPr>
            <p:cNvSpPr txBox="1"/>
            <p:nvPr/>
          </p:nvSpPr>
          <p:spPr>
            <a:xfrm>
              <a:off x="384087" y="816489"/>
              <a:ext cx="2190615" cy="4518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Structure des données</a:t>
              </a:r>
            </a:p>
          </p:txBody>
        </p:sp>
        <p:cxnSp>
          <p:nvCxnSpPr>
            <p:cNvPr id="9" name="Connecteur droit 8">
              <a:extLst>
                <a:ext uri="{FF2B5EF4-FFF2-40B4-BE49-F238E27FC236}">
                  <a16:creationId xmlns:a16="http://schemas.microsoft.com/office/drawing/2014/main" id="{5A88291A-9DAE-E1FE-60D1-25F04E074CA6}"/>
                </a:ext>
              </a:extLst>
            </p:cNvPr>
            <p:cNvCxnSpPr/>
            <p:nvPr/>
          </p:nvCxnSpPr>
          <p:spPr>
            <a:xfrm>
              <a:off x="401444" y="1281207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ZoneTexte 9">
              <a:extLst>
                <a:ext uri="{FF2B5EF4-FFF2-40B4-BE49-F238E27FC236}">
                  <a16:creationId xmlns:a16="http://schemas.microsoft.com/office/drawing/2014/main" id="{C4ABCEA8-AF4C-F637-DA8A-EEDE7FC1C98A}"/>
                </a:ext>
              </a:extLst>
            </p:cNvPr>
            <p:cNvSpPr txBox="1"/>
            <p:nvPr/>
          </p:nvSpPr>
          <p:spPr>
            <a:xfrm>
              <a:off x="333426" y="1389652"/>
              <a:ext cx="2349326" cy="277311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Format JSON semi-structuré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55 691 lignes : une par application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Champs imbriqués : plateformes, catégories, tags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>
                  <a:sym typeface="Wingdings" panose="05000000000000000000" pitchFamily="2" charset="2"/>
                </a:rPr>
                <a:t>Aplatissement nécessaire avant analyse</a:t>
              </a:r>
              <a:endParaRPr lang="fr-F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23 colonnes principales après structuration</a:t>
              </a:r>
            </a:p>
          </p:txBody>
        </p:sp>
      </p:grpSp>
      <p:grpSp>
        <p:nvGrpSpPr>
          <p:cNvPr id="13" name="Groupe 12">
            <a:extLst>
              <a:ext uri="{FF2B5EF4-FFF2-40B4-BE49-F238E27FC236}">
                <a16:creationId xmlns:a16="http://schemas.microsoft.com/office/drawing/2014/main" id="{B1D183FD-82BF-7AE3-A935-E29B1FE434B4}"/>
              </a:ext>
            </a:extLst>
          </p:cNvPr>
          <p:cNvGrpSpPr/>
          <p:nvPr/>
        </p:nvGrpSpPr>
        <p:grpSpPr>
          <a:xfrm>
            <a:off x="3411487" y="1191991"/>
            <a:ext cx="2198555" cy="2719073"/>
            <a:chOff x="304800" y="721112"/>
            <a:chExt cx="2349190" cy="3992137"/>
          </a:xfrm>
        </p:grpSpPr>
        <p:sp>
          <p:nvSpPr>
            <p:cNvPr id="14" name="Rectangle : coins arrondis 13">
              <a:extLst>
                <a:ext uri="{FF2B5EF4-FFF2-40B4-BE49-F238E27FC236}">
                  <a16:creationId xmlns:a16="http://schemas.microsoft.com/office/drawing/2014/main" id="{4BD5169A-6E09-6BDC-2B8D-17193200ACBB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4802A8F-0714-77A9-89D1-72247B643BAC}"/>
                </a:ext>
              </a:extLst>
            </p:cNvPr>
            <p:cNvSpPr txBox="1"/>
            <p:nvPr/>
          </p:nvSpPr>
          <p:spPr>
            <a:xfrm>
              <a:off x="384087" y="816489"/>
              <a:ext cx="2190615" cy="4518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Contenu exploitable</a:t>
              </a:r>
            </a:p>
          </p:txBody>
        </p:sp>
        <p:cxnSp>
          <p:nvCxnSpPr>
            <p:cNvPr id="16" name="Connecteur droit 15">
              <a:extLst>
                <a:ext uri="{FF2B5EF4-FFF2-40B4-BE49-F238E27FC236}">
                  <a16:creationId xmlns:a16="http://schemas.microsoft.com/office/drawing/2014/main" id="{7EC26DAE-1F7B-EA8F-EB38-E2FEC376E638}"/>
                </a:ext>
              </a:extLst>
            </p:cNvPr>
            <p:cNvCxnSpPr/>
            <p:nvPr/>
          </p:nvCxnSpPr>
          <p:spPr>
            <a:xfrm>
              <a:off x="401444" y="1281207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ZoneTexte 16">
              <a:extLst>
                <a:ext uri="{FF2B5EF4-FFF2-40B4-BE49-F238E27FC236}">
                  <a16:creationId xmlns:a16="http://schemas.microsoft.com/office/drawing/2014/main" id="{FFE5662C-F0FA-1BA8-1D7A-BA2F1D8D88FE}"/>
                </a:ext>
              </a:extLst>
            </p:cNvPr>
            <p:cNvSpPr txBox="1"/>
            <p:nvPr/>
          </p:nvSpPr>
          <p:spPr>
            <a:xfrm>
              <a:off x="401444" y="1838061"/>
              <a:ext cx="2163336" cy="17623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Catalogue et dates de sortie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Genres et catégories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Plateformes disponibles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Prix et promotions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Avis</a:t>
              </a:r>
            </a:p>
          </p:txBody>
        </p:sp>
      </p:grpSp>
      <p:grpSp>
        <p:nvGrpSpPr>
          <p:cNvPr id="18" name="Groupe 17">
            <a:extLst>
              <a:ext uri="{FF2B5EF4-FFF2-40B4-BE49-F238E27FC236}">
                <a16:creationId xmlns:a16="http://schemas.microsoft.com/office/drawing/2014/main" id="{80C92427-18F0-0AEE-4B0B-D1374635627E}"/>
              </a:ext>
            </a:extLst>
          </p:cNvPr>
          <p:cNvGrpSpPr/>
          <p:nvPr/>
        </p:nvGrpSpPr>
        <p:grpSpPr>
          <a:xfrm>
            <a:off x="5711164" y="1181765"/>
            <a:ext cx="2761294" cy="3208661"/>
            <a:chOff x="304800" y="721112"/>
            <a:chExt cx="2428618" cy="3992137"/>
          </a:xfrm>
        </p:grpSpPr>
        <p:sp>
          <p:nvSpPr>
            <p:cNvPr id="19" name="Rectangle : coins arrondis 18">
              <a:extLst>
                <a:ext uri="{FF2B5EF4-FFF2-40B4-BE49-F238E27FC236}">
                  <a16:creationId xmlns:a16="http://schemas.microsoft.com/office/drawing/2014/main" id="{B06E38DB-F0DF-A205-6923-C5A9A52237E0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0" name="ZoneTexte 19">
              <a:extLst>
                <a:ext uri="{FF2B5EF4-FFF2-40B4-BE49-F238E27FC236}">
                  <a16:creationId xmlns:a16="http://schemas.microsoft.com/office/drawing/2014/main" id="{12D84CE5-5485-8078-A97B-369F6E16A6E3}"/>
                </a:ext>
              </a:extLst>
            </p:cNvPr>
            <p:cNvSpPr txBox="1"/>
            <p:nvPr/>
          </p:nvSpPr>
          <p:spPr>
            <a:xfrm>
              <a:off x="401444" y="809036"/>
              <a:ext cx="2252687" cy="4518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fr-FR" dirty="0"/>
                <a:t>Qualité et limites</a:t>
              </a:r>
            </a:p>
          </p:txBody>
        </p:sp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F8F842FA-042C-DBD6-F1DD-8CCE23A72CDC}"/>
                </a:ext>
              </a:extLst>
            </p:cNvPr>
            <p:cNvCxnSpPr/>
            <p:nvPr/>
          </p:nvCxnSpPr>
          <p:spPr>
            <a:xfrm>
              <a:off x="401444" y="1270294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32792BDA-1CD9-8D8C-06F6-0F12D24F5736}"/>
                </a:ext>
              </a:extLst>
            </p:cNvPr>
            <p:cNvSpPr txBox="1"/>
            <p:nvPr/>
          </p:nvSpPr>
          <p:spPr>
            <a:xfrm>
              <a:off x="401444" y="1313055"/>
              <a:ext cx="2331974" cy="264220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Absence des volumes de ventes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 err="1"/>
                <a:t>Reviews</a:t>
              </a:r>
              <a:r>
                <a:rPr lang="fr-FR" sz="1200" dirty="0"/>
                <a:t> ≠ ventes </a:t>
              </a:r>
              <a:r>
                <a:rPr lang="fr-FR" sz="1200" dirty="0">
                  <a:sym typeface="Wingdings" panose="05000000000000000000" pitchFamily="2" charset="2"/>
                </a:rPr>
                <a:t> Proxy</a:t>
              </a:r>
              <a:endParaRPr lang="fr-FR" sz="1200" dirty="0"/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Promotions observées à un instant donné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Tags très nombreux (441) parfois redondants ou partiellement superposés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Genres et catégories non exclusifs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fr-FR" sz="1200" dirty="0"/>
                <a:t>Données parfois incomplètes ou déclaratives</a:t>
              </a:r>
            </a:p>
          </p:txBody>
        </p:sp>
      </p:grpSp>
      <p:sp>
        <p:nvSpPr>
          <p:cNvPr id="28" name="ZoneTexte 27">
            <a:extLst>
              <a:ext uri="{FF2B5EF4-FFF2-40B4-BE49-F238E27FC236}">
                <a16:creationId xmlns:a16="http://schemas.microsoft.com/office/drawing/2014/main" id="{39973D0F-731E-9651-39F2-BA25984C5ADB}"/>
              </a:ext>
            </a:extLst>
          </p:cNvPr>
          <p:cNvSpPr txBox="1"/>
          <p:nvPr/>
        </p:nvSpPr>
        <p:spPr>
          <a:xfrm>
            <a:off x="10225" y="4441631"/>
            <a:ext cx="91235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Une base d’analyse riche, à interpréter comme un catalogue de marché plutôt que comme une mesure directe des ventes.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>
            <a:spLocks noGrp="1"/>
          </p:cNvSpPr>
          <p:nvPr>
            <p:ph type="ctrTitle" idx="4294967295"/>
          </p:nvPr>
        </p:nvSpPr>
        <p:spPr>
          <a:xfrm>
            <a:off x="1192663" y="-57221"/>
            <a:ext cx="7386342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Structure du catalogue Steam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2791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763" y="7141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C870F25-3B32-EAD1-757E-01DA5FF26F43}"/>
              </a:ext>
            </a:extLst>
          </p:cNvPr>
          <p:cNvSpPr txBox="1"/>
          <p:nvPr/>
        </p:nvSpPr>
        <p:spPr>
          <a:xfrm>
            <a:off x="0" y="4425850"/>
            <a:ext cx="89489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Les volumes de sorties annuelles très importants entrainent une forte concurrence et font de la visibilité un enjeu crucial pour les éditeurs.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2E57CC9-4B9C-1B9E-FE1D-27449CF407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078" y="648419"/>
            <a:ext cx="5869080" cy="174935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7AAA3D1-9C50-C975-D0A0-8CEC3B044C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5" y="2447928"/>
            <a:ext cx="6542038" cy="1949936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3B93C2C-C725-6961-ECA6-792B8ACF0E29}"/>
              </a:ext>
            </a:extLst>
          </p:cNvPr>
          <p:cNvSpPr txBox="1"/>
          <p:nvPr/>
        </p:nvSpPr>
        <p:spPr>
          <a:xfrm>
            <a:off x="6638693" y="3099730"/>
            <a:ext cx="2382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Quelques éditeurs très prolifiques, dans un marché qui reste très fragmenté</a:t>
            </a:r>
          </a:p>
        </p:txBody>
      </p:sp>
      <p:grpSp>
        <p:nvGrpSpPr>
          <p:cNvPr id="15" name="Groupe 14">
            <a:extLst>
              <a:ext uri="{FF2B5EF4-FFF2-40B4-BE49-F238E27FC236}">
                <a16:creationId xmlns:a16="http://schemas.microsoft.com/office/drawing/2014/main" id="{D5F2574E-2EB1-A9EF-08FF-0915DC7E2ED8}"/>
              </a:ext>
            </a:extLst>
          </p:cNvPr>
          <p:cNvGrpSpPr/>
          <p:nvPr/>
        </p:nvGrpSpPr>
        <p:grpSpPr>
          <a:xfrm>
            <a:off x="118946" y="564701"/>
            <a:ext cx="2631182" cy="508647"/>
            <a:chOff x="118946" y="564701"/>
            <a:chExt cx="2631182" cy="508647"/>
          </a:xfrm>
        </p:grpSpPr>
        <p:sp>
          <p:nvSpPr>
            <p:cNvPr id="8" name="Rectangle : coins arrondis 7">
              <a:extLst>
                <a:ext uri="{FF2B5EF4-FFF2-40B4-BE49-F238E27FC236}">
                  <a16:creationId xmlns:a16="http://schemas.microsoft.com/office/drawing/2014/main" id="{A59772D2-DE95-2233-0813-6C5C59A39A4A}"/>
                </a:ext>
              </a:extLst>
            </p:cNvPr>
            <p:cNvSpPr/>
            <p:nvPr/>
          </p:nvSpPr>
          <p:spPr>
            <a:xfrm>
              <a:off x="118946" y="564701"/>
              <a:ext cx="2631182" cy="481975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84D029D1-4476-DC4C-095E-95F09B5FC9DC}"/>
                </a:ext>
              </a:extLst>
            </p:cNvPr>
            <p:cNvSpPr txBox="1"/>
            <p:nvPr/>
          </p:nvSpPr>
          <p:spPr>
            <a:xfrm flipH="1">
              <a:off x="989911" y="765571"/>
              <a:ext cx="72743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55 691</a:t>
              </a:r>
            </a:p>
          </p:txBody>
        </p:sp>
        <p:sp>
          <p:nvSpPr>
            <p:cNvPr id="13" name="ZoneTexte 12">
              <a:extLst>
                <a:ext uri="{FF2B5EF4-FFF2-40B4-BE49-F238E27FC236}">
                  <a16:creationId xmlns:a16="http://schemas.microsoft.com/office/drawing/2014/main" id="{DF6CAA80-F735-C684-A7FD-23847365095D}"/>
                </a:ext>
              </a:extLst>
            </p:cNvPr>
            <p:cNvSpPr txBox="1"/>
            <p:nvPr/>
          </p:nvSpPr>
          <p:spPr>
            <a:xfrm>
              <a:off x="200064" y="578714"/>
              <a:ext cx="2468946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050" dirty="0"/>
                <a:t>Total applications disponibles fin 2022</a:t>
              </a:r>
            </a:p>
          </p:txBody>
        </p:sp>
      </p:grp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E81C243-95B6-1839-ABAA-55E09031B179}"/>
              </a:ext>
            </a:extLst>
          </p:cNvPr>
          <p:cNvGrpSpPr/>
          <p:nvPr/>
        </p:nvGrpSpPr>
        <p:grpSpPr>
          <a:xfrm>
            <a:off x="118946" y="1146940"/>
            <a:ext cx="2631182" cy="498550"/>
            <a:chOff x="118946" y="577550"/>
            <a:chExt cx="2631182" cy="498550"/>
          </a:xfrm>
        </p:grpSpPr>
        <p:sp>
          <p:nvSpPr>
            <p:cNvPr id="20" name="Rectangle : coins arrondis 19">
              <a:extLst>
                <a:ext uri="{FF2B5EF4-FFF2-40B4-BE49-F238E27FC236}">
                  <a16:creationId xmlns:a16="http://schemas.microsoft.com/office/drawing/2014/main" id="{ED219B0C-8070-4DD7-755F-3A62368ACD01}"/>
                </a:ext>
              </a:extLst>
            </p:cNvPr>
            <p:cNvSpPr/>
            <p:nvPr/>
          </p:nvSpPr>
          <p:spPr>
            <a:xfrm>
              <a:off x="118946" y="577550"/>
              <a:ext cx="2631182" cy="449178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1" name="ZoneTexte 20">
              <a:extLst>
                <a:ext uri="{FF2B5EF4-FFF2-40B4-BE49-F238E27FC236}">
                  <a16:creationId xmlns:a16="http://schemas.microsoft.com/office/drawing/2014/main" id="{43091319-3EA3-18E9-8B67-7E122FC9111A}"/>
                </a:ext>
              </a:extLst>
            </p:cNvPr>
            <p:cNvSpPr txBox="1"/>
            <p:nvPr/>
          </p:nvSpPr>
          <p:spPr>
            <a:xfrm flipH="1">
              <a:off x="1078632" y="768323"/>
              <a:ext cx="54999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X 90</a:t>
              </a:r>
            </a:p>
          </p:txBody>
        </p:sp>
        <p:sp>
          <p:nvSpPr>
            <p:cNvPr id="22" name="ZoneTexte 21">
              <a:extLst>
                <a:ext uri="{FF2B5EF4-FFF2-40B4-BE49-F238E27FC236}">
                  <a16:creationId xmlns:a16="http://schemas.microsoft.com/office/drawing/2014/main" id="{406A970D-BD03-92CE-5A80-FCCA58007706}"/>
                </a:ext>
              </a:extLst>
            </p:cNvPr>
            <p:cNvSpPr txBox="1"/>
            <p:nvPr/>
          </p:nvSpPr>
          <p:spPr>
            <a:xfrm>
              <a:off x="118946" y="591747"/>
              <a:ext cx="262054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/>
                <a:t>Evolution des sorties entre 2007 et 2021</a:t>
              </a: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C3918590-E39B-49AB-3EFC-87A93273BC1D}"/>
              </a:ext>
            </a:extLst>
          </p:cNvPr>
          <p:cNvGrpSpPr/>
          <p:nvPr/>
        </p:nvGrpSpPr>
        <p:grpSpPr>
          <a:xfrm>
            <a:off x="118946" y="1724345"/>
            <a:ext cx="2631182" cy="508812"/>
            <a:chOff x="118946" y="588575"/>
            <a:chExt cx="2631182" cy="508812"/>
          </a:xfrm>
        </p:grpSpPr>
        <p:sp>
          <p:nvSpPr>
            <p:cNvPr id="24" name="Rectangle : coins arrondis 23">
              <a:extLst>
                <a:ext uri="{FF2B5EF4-FFF2-40B4-BE49-F238E27FC236}">
                  <a16:creationId xmlns:a16="http://schemas.microsoft.com/office/drawing/2014/main" id="{99805A7A-CF8E-2B9F-AE2C-848457673B07}"/>
                </a:ext>
              </a:extLst>
            </p:cNvPr>
            <p:cNvSpPr/>
            <p:nvPr/>
          </p:nvSpPr>
          <p:spPr>
            <a:xfrm>
              <a:off x="118946" y="588575"/>
              <a:ext cx="2631182" cy="481355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9E38EB7F-A915-5E79-5FDF-C39EB6C75E2E}"/>
                </a:ext>
              </a:extLst>
            </p:cNvPr>
            <p:cNvSpPr txBox="1"/>
            <p:nvPr/>
          </p:nvSpPr>
          <p:spPr>
            <a:xfrm flipH="1">
              <a:off x="875621" y="789610"/>
              <a:ext cx="109656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/>
                <a:t>2020-2021</a:t>
              </a:r>
            </a:p>
          </p:txBody>
        </p:sp>
        <p:sp>
          <p:nvSpPr>
            <p:cNvPr id="26" name="ZoneTexte 25">
              <a:extLst>
                <a:ext uri="{FF2B5EF4-FFF2-40B4-BE49-F238E27FC236}">
                  <a16:creationId xmlns:a16="http://schemas.microsoft.com/office/drawing/2014/main" id="{98A8457A-D7D3-D39F-9C0E-338517A93FCB}"/>
                </a:ext>
              </a:extLst>
            </p:cNvPr>
            <p:cNvSpPr txBox="1"/>
            <p:nvPr/>
          </p:nvSpPr>
          <p:spPr>
            <a:xfrm>
              <a:off x="724406" y="589093"/>
              <a:ext cx="139899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50" dirty="0"/>
                <a:t>Pics de publications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6521bfe93_0_9"/>
          <p:cNvSpPr txBox="1">
            <a:spLocks noGrp="1"/>
          </p:cNvSpPr>
          <p:nvPr>
            <p:ph type="ctrTitle" idx="4294967295"/>
          </p:nvPr>
        </p:nvSpPr>
        <p:spPr>
          <a:xfrm>
            <a:off x="1192662" y="8456"/>
            <a:ext cx="734917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2500" b="0" i="0" u="none" strike="noStrike" cap="none" dirty="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Genres et plateformes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32" name="Google Shape;132;g3d6521bfe93_0_9"/>
          <p:cNvSpPr/>
          <p:nvPr/>
        </p:nvSpPr>
        <p:spPr>
          <a:xfrm>
            <a:off x="260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g3d6521bfe93_0_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87999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d6521bfe93_0_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E3FFCC5-6182-9E84-4B2E-BDB576D220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842" y="871833"/>
            <a:ext cx="5153552" cy="1536081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24FA7382-43FE-0763-E2F7-7344A345239F}"/>
              </a:ext>
            </a:extLst>
          </p:cNvPr>
          <p:cNvSpPr txBox="1"/>
          <p:nvPr/>
        </p:nvSpPr>
        <p:spPr>
          <a:xfrm>
            <a:off x="10225" y="568311"/>
            <a:ext cx="914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La compatibilité Windows est quasi systématique, tandis que Mac et Linux restent des compatibilités complémentaires.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FE06A2-C7E8-64E0-F770-9E99F9017893}"/>
              </a:ext>
            </a:extLst>
          </p:cNvPr>
          <p:cNvSpPr txBox="1"/>
          <p:nvPr/>
        </p:nvSpPr>
        <p:spPr>
          <a:xfrm>
            <a:off x="5882640" y="996611"/>
            <a:ext cx="31385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Part des jeux compatibles par plateformes :</a:t>
            </a:r>
          </a:p>
          <a:p>
            <a:endParaRPr lang="fr-FR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Windows : 99,97%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Mac : 22,93%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200" dirty="0"/>
              <a:t>Linux : 15,19%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4828B0F-0ACE-CEBE-DC2D-7A86D8C4E5A9}"/>
              </a:ext>
            </a:extLst>
          </p:cNvPr>
          <p:cNvSpPr txBox="1"/>
          <p:nvPr/>
        </p:nvSpPr>
        <p:spPr>
          <a:xfrm>
            <a:off x="-10225" y="2697394"/>
            <a:ext cx="312680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Part des jeux associés aux principaux genres :</a:t>
            </a:r>
          </a:p>
          <a:p>
            <a:endParaRPr lang="fr-FR" sz="1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Indie : 39,7% des jeux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Action : 23,8%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Casual : 22,1%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100" dirty="0"/>
              <a:t>Adventure : 21,4%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100" dirty="0"/>
          </a:p>
          <a:p>
            <a:r>
              <a:rPr lang="fr-FR" sz="1100" dirty="0"/>
              <a:t>Un jeu peut avoir plusieurs genres.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EE59662-3CDC-69A5-6A6E-44FE303EDD76}"/>
              </a:ext>
            </a:extLst>
          </p:cNvPr>
          <p:cNvSpPr txBox="1"/>
          <p:nvPr/>
        </p:nvSpPr>
        <p:spPr>
          <a:xfrm>
            <a:off x="-10225" y="4271667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Sur Steam, viser Windows relève du prérequis. Les arbitrages Mac/Linux relèvent d’avantage du positionnement marché.</a:t>
            </a:r>
          </a:p>
          <a:p>
            <a:r>
              <a:rPr lang="fr-FR" sz="1200" dirty="0"/>
              <a:t>Les genres dominants, notamment l’Indie, concentrent les zones de plus forte concurrence.</a:t>
            </a:r>
          </a:p>
          <a:p>
            <a:r>
              <a:rPr lang="fr-FR" sz="1200" dirty="0"/>
              <a:t>La visibilité dépend ensuite de la capacité à se différencier dans des genres très représentés.</a:t>
            </a: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604036B3-7D36-BCCB-0531-BB647CBFBD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16579" y="2478166"/>
            <a:ext cx="6017195" cy="17935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6521bfe93_0_19"/>
          <p:cNvSpPr txBox="1">
            <a:spLocks noGrp="1"/>
          </p:cNvSpPr>
          <p:nvPr>
            <p:ph type="ctrTitle" idx="4294967295"/>
          </p:nvPr>
        </p:nvSpPr>
        <p:spPr>
          <a:xfrm>
            <a:off x="1192662" y="43091"/>
            <a:ext cx="7951337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2500" dirty="0">
                <a:solidFill>
                  <a:srgbClr val="0E3449"/>
                </a:solidFill>
                <a:latin typeface="Inter SemiBold"/>
                <a:ea typeface="Inter SemiBold"/>
              </a:rPr>
              <a:t>Prix, âge et réception utilisateur</a:t>
            </a:r>
            <a:endParaRPr sz="2500" dirty="0">
              <a:solidFill>
                <a:srgbClr val="0E3449"/>
              </a:solidFill>
              <a:latin typeface="Inter SemiBold"/>
              <a:ea typeface="Inter SemiBold"/>
              <a:sym typeface="Inter SemiBold"/>
            </a:endParaRPr>
          </a:p>
        </p:txBody>
      </p:sp>
      <p:sp>
        <p:nvSpPr>
          <p:cNvPr id="142" name="Google Shape;142;g3d6521bfe93_0_19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d6521bfe93_0_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122634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d6521bfe93_0_19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F1356ED0-A179-57DC-318B-6959A8B4D275}"/>
              </a:ext>
            </a:extLst>
          </p:cNvPr>
          <p:cNvSpPr txBox="1"/>
          <p:nvPr/>
        </p:nvSpPr>
        <p:spPr>
          <a:xfrm>
            <a:off x="3236333" y="904320"/>
            <a:ext cx="55582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50" b="1" dirty="0"/>
              <a:t>Prix initial affiché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/>
              <a:t>Forte présence des jeux à bas prix notamment entre 0 et 10€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/>
              <a:t>Progression visible de la tranche 0 à 5€ sur les années récentes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50" dirty="0"/>
              <a:t>Recul des jeux gratuits sur les dernières années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FDCFD4C4-C23A-0940-A971-C6F5B25B86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3" y="2252644"/>
            <a:ext cx="6663883" cy="1986254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A954F983-9DF4-D29D-C9CA-555B2EBF7603}"/>
              </a:ext>
            </a:extLst>
          </p:cNvPr>
          <p:cNvSpPr txBox="1"/>
          <p:nvPr/>
        </p:nvSpPr>
        <p:spPr>
          <a:xfrm>
            <a:off x="10225" y="603578"/>
            <a:ext cx="8179341" cy="27699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1200" dirty="0"/>
              <a:t>Le positionnement d’un jeu sur Steam se lit notamment à travers son prix, son accessibilité et sa réception utilisateur.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0EAEF77-C68B-4038-3A17-7F4F6DFE8392}"/>
              </a:ext>
            </a:extLst>
          </p:cNvPr>
          <p:cNvSpPr txBox="1"/>
          <p:nvPr/>
        </p:nvSpPr>
        <p:spPr>
          <a:xfrm>
            <a:off x="-1" y="4138897"/>
            <a:ext cx="913377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dirty="0"/>
              <a:t>• Les titres les plus visibles ne sont pas seulement récents. </a:t>
            </a:r>
            <a:br>
              <a:rPr lang="fr-FR" sz="1100" dirty="0"/>
            </a:br>
            <a:r>
              <a:rPr lang="fr-FR" sz="1100" dirty="0"/>
              <a:t>• Les gros volumes d’avis peuvent signaler des communautés durables, mais aussi des épisodes de mobilisation collective ou de </a:t>
            </a:r>
            <a:r>
              <a:rPr lang="fr-FR" sz="1100" dirty="0" err="1"/>
              <a:t>review</a:t>
            </a:r>
            <a:r>
              <a:rPr lang="fr-FR" sz="1100" dirty="0"/>
              <a:t> </a:t>
            </a:r>
            <a:r>
              <a:rPr lang="fr-FR" sz="1100" dirty="0" err="1"/>
              <a:t>bombing</a:t>
            </a:r>
            <a:r>
              <a:rPr lang="fr-FR" sz="1100" dirty="0"/>
              <a:t>.</a:t>
            </a:r>
            <a:br>
              <a:rPr lang="fr-FR" sz="1100" dirty="0"/>
            </a:br>
            <a:r>
              <a:rPr lang="fr-FR" sz="1100" dirty="0"/>
              <a:t>• Les avis ne représentent pas les ventes mais peuvent être exploités comme proxy de visibilité des jeux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8CA1358-F592-DC53-6B21-E1C52B3435BD}"/>
              </a:ext>
            </a:extLst>
          </p:cNvPr>
          <p:cNvSpPr txBox="1"/>
          <p:nvPr/>
        </p:nvSpPr>
        <p:spPr>
          <a:xfrm>
            <a:off x="10226" y="898339"/>
            <a:ext cx="24802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100" b="1" dirty="0"/>
              <a:t>Âge</a:t>
            </a:r>
            <a:endParaRPr lang="fr-FR" sz="11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Données déclaratives côté éditeur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Renseignement non obligatoire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100" dirty="0"/>
              <a:t>Variable partiellement exploitable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CC60EA6-B927-13F9-A623-F90E38E0563C}"/>
              </a:ext>
            </a:extLst>
          </p:cNvPr>
          <p:cNvSpPr txBox="1"/>
          <p:nvPr/>
        </p:nvSpPr>
        <p:spPr>
          <a:xfrm>
            <a:off x="0" y="1900987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Important : Steam a été créé en 2003, les gros succès des premières années sont nécessairement moins visibles que ceux des dernières années car Steam était moins central dans l’écosystème vidéoludique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26B419D4-AFE1-7CEC-8754-DC285576BBBF}"/>
              </a:ext>
            </a:extLst>
          </p:cNvPr>
          <p:cNvSpPr txBox="1"/>
          <p:nvPr/>
        </p:nvSpPr>
        <p:spPr>
          <a:xfrm>
            <a:off x="6824094" y="2748761"/>
            <a:ext cx="233013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/>
              <a:t>Les titres les plus visibles combinent un score élevé, un volume d’avis important et une communauté active mais les </a:t>
            </a:r>
            <a:r>
              <a:rPr lang="fr-FR" sz="1100" dirty="0" err="1"/>
              <a:t>reviews</a:t>
            </a:r>
            <a:r>
              <a:rPr lang="fr-FR" sz="1100" dirty="0"/>
              <a:t> restent un signal indirect de performance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2"/>
          <p:cNvSpPr txBox="1">
            <a:spLocks noGrp="1"/>
          </p:cNvSpPr>
          <p:nvPr>
            <p:ph type="ctrTitle" idx="4294967295"/>
          </p:nvPr>
        </p:nvSpPr>
        <p:spPr>
          <a:xfrm>
            <a:off x="1192663" y="16734"/>
            <a:ext cx="6865951" cy="53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fr-FR" sz="2400" dirty="0"/>
              <a:t>Conclusion</a:t>
            </a:r>
            <a:endParaRPr sz="2500" b="0" i="0" u="none" strike="noStrike" cap="none" dirty="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sp>
        <p:nvSpPr>
          <p:cNvPr id="152" name="Google Shape;152;p12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" name="Google Shape;153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375" y="96277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2"/>
          <p:cNvSpPr txBox="1">
            <a:spLocks noGrp="1"/>
          </p:cNvSpPr>
          <p:nvPr>
            <p:ph type="sldNum" idx="12"/>
          </p:nvPr>
        </p:nvSpPr>
        <p:spPr>
          <a:xfrm>
            <a:off x="8472458" y="4939381"/>
            <a:ext cx="5487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fr-FR"/>
              <a:t>6</a:t>
            </a:fld>
            <a:endParaRPr/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5B6FF0E3-8250-915D-2FF0-B87A9C33C647}"/>
              </a:ext>
            </a:extLst>
          </p:cNvPr>
          <p:cNvGrpSpPr/>
          <p:nvPr/>
        </p:nvGrpSpPr>
        <p:grpSpPr>
          <a:xfrm>
            <a:off x="889640" y="691087"/>
            <a:ext cx="2418555" cy="3286178"/>
            <a:chOff x="304800" y="721112"/>
            <a:chExt cx="2418555" cy="3992137"/>
          </a:xfrm>
        </p:grpSpPr>
        <p:sp>
          <p:nvSpPr>
            <p:cNvPr id="2" name="Rectangle : coins arrondis 1">
              <a:extLst>
                <a:ext uri="{FF2B5EF4-FFF2-40B4-BE49-F238E27FC236}">
                  <a16:creationId xmlns:a16="http://schemas.microsoft.com/office/drawing/2014/main" id="{BE9BEC07-1265-4BD2-FA72-447C5677D673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ZoneTexte 3">
              <a:extLst>
                <a:ext uri="{FF2B5EF4-FFF2-40B4-BE49-F238E27FC236}">
                  <a16:creationId xmlns:a16="http://schemas.microsoft.com/office/drawing/2014/main" id="{FABEC188-C764-3135-3683-BDB5437522EE}"/>
                </a:ext>
              </a:extLst>
            </p:cNvPr>
            <p:cNvSpPr txBox="1"/>
            <p:nvPr/>
          </p:nvSpPr>
          <p:spPr>
            <a:xfrm>
              <a:off x="304800" y="898785"/>
              <a:ext cx="2418555" cy="2923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300" dirty="0"/>
                <a:t>Des standards PC à respecter</a:t>
              </a:r>
            </a:p>
          </p:txBody>
        </p:sp>
        <p:cxnSp>
          <p:nvCxnSpPr>
            <p:cNvPr id="6" name="Connecteur droit 5">
              <a:extLst>
                <a:ext uri="{FF2B5EF4-FFF2-40B4-BE49-F238E27FC236}">
                  <a16:creationId xmlns:a16="http://schemas.microsoft.com/office/drawing/2014/main" id="{963862E3-8A14-F86A-D73E-857ECBCB0558}"/>
                </a:ext>
              </a:extLst>
            </p:cNvPr>
            <p:cNvCxnSpPr/>
            <p:nvPr/>
          </p:nvCxnSpPr>
          <p:spPr>
            <a:xfrm>
              <a:off x="455435" y="1256077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ZoneTexte 6">
              <a:extLst>
                <a:ext uri="{FF2B5EF4-FFF2-40B4-BE49-F238E27FC236}">
                  <a16:creationId xmlns:a16="http://schemas.microsoft.com/office/drawing/2014/main" id="{3F150068-63F0-5B76-C57A-DDE79F26DDE9}"/>
                </a:ext>
              </a:extLst>
            </p:cNvPr>
            <p:cNvSpPr txBox="1"/>
            <p:nvPr/>
          </p:nvSpPr>
          <p:spPr>
            <a:xfrm>
              <a:off x="398924" y="1490635"/>
              <a:ext cx="2163336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fr-FR" sz="1100" dirty="0"/>
                <a:t>Windows est un socle attendu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Des genres dominants très </a:t>
              </a:r>
              <a:r>
                <a:rPr lang="fr-FR" sz="1100" dirty="0" err="1"/>
                <a:t>conccurentiels</a:t>
              </a:r>
              <a:endParaRPr lang="fr-FR" sz="1100" dirty="0"/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Des prix standardisés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 err="1"/>
                <a:t>Reviews</a:t>
              </a:r>
              <a:r>
                <a:rPr lang="fr-FR" sz="1100" dirty="0"/>
                <a:t> visibles dès la réception publique</a:t>
              </a:r>
            </a:p>
            <a:p>
              <a:pPr marL="171450" indent="-171450">
                <a:buFontTx/>
                <a:buChar char="-"/>
              </a:pPr>
              <a:endParaRPr lang="fr-FR" sz="1100" dirty="0"/>
            </a:p>
            <a:p>
              <a:r>
                <a:rPr lang="fr-FR" sz="1100" dirty="0"/>
                <a:t>Sur Steam, un jeu AAA est immédiatement comparé aux standards du marché PC : compatibilité, prix, genre, promesse de contenu et réception utilisateur.</a:t>
              </a:r>
            </a:p>
          </p:txBody>
        </p:sp>
      </p:grpSp>
      <p:grpSp>
        <p:nvGrpSpPr>
          <p:cNvPr id="10" name="Groupe 9">
            <a:extLst>
              <a:ext uri="{FF2B5EF4-FFF2-40B4-BE49-F238E27FC236}">
                <a16:creationId xmlns:a16="http://schemas.microsoft.com/office/drawing/2014/main" id="{FD382CE5-B6E8-802A-3B34-BDD02BFE414E}"/>
              </a:ext>
            </a:extLst>
          </p:cNvPr>
          <p:cNvGrpSpPr/>
          <p:nvPr/>
        </p:nvGrpSpPr>
        <p:grpSpPr>
          <a:xfrm>
            <a:off x="3397405" y="691086"/>
            <a:ext cx="2349190" cy="3286180"/>
            <a:chOff x="304800" y="721112"/>
            <a:chExt cx="2349190" cy="3992137"/>
          </a:xfrm>
        </p:grpSpPr>
        <p:sp>
          <p:nvSpPr>
            <p:cNvPr id="11" name="Rectangle : coins arrondis 10">
              <a:extLst>
                <a:ext uri="{FF2B5EF4-FFF2-40B4-BE49-F238E27FC236}">
                  <a16:creationId xmlns:a16="http://schemas.microsoft.com/office/drawing/2014/main" id="{7E59A4EB-E258-DB97-3AD7-5E369AA267A1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" name="ZoneTexte 11">
              <a:extLst>
                <a:ext uri="{FF2B5EF4-FFF2-40B4-BE49-F238E27FC236}">
                  <a16:creationId xmlns:a16="http://schemas.microsoft.com/office/drawing/2014/main" id="{C890C9FB-03EB-25F6-2830-89410ED36CBE}"/>
                </a:ext>
              </a:extLst>
            </p:cNvPr>
            <p:cNvSpPr txBox="1"/>
            <p:nvPr/>
          </p:nvSpPr>
          <p:spPr>
            <a:xfrm>
              <a:off x="391521" y="819985"/>
              <a:ext cx="2262469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300" dirty="0"/>
                <a:t>Un positionnement à rendre lisible</a:t>
              </a:r>
            </a:p>
          </p:txBody>
        </p:sp>
        <p:cxnSp>
          <p:nvCxnSpPr>
            <p:cNvPr id="13" name="Connecteur droit 12">
              <a:extLst>
                <a:ext uri="{FF2B5EF4-FFF2-40B4-BE49-F238E27FC236}">
                  <a16:creationId xmlns:a16="http://schemas.microsoft.com/office/drawing/2014/main" id="{3B648E9E-E8AD-60AA-9D2E-8909F81B65D4}"/>
                </a:ext>
              </a:extLst>
            </p:cNvPr>
            <p:cNvCxnSpPr/>
            <p:nvPr/>
          </p:nvCxnSpPr>
          <p:spPr>
            <a:xfrm>
              <a:off x="401443" y="1312428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>
              <a:extLst>
                <a:ext uri="{FF2B5EF4-FFF2-40B4-BE49-F238E27FC236}">
                  <a16:creationId xmlns:a16="http://schemas.microsoft.com/office/drawing/2014/main" id="{C62BEA05-4325-A0AF-D2DA-81D9E6E56D33}"/>
                </a:ext>
              </a:extLst>
            </p:cNvPr>
            <p:cNvSpPr txBox="1"/>
            <p:nvPr/>
          </p:nvSpPr>
          <p:spPr>
            <a:xfrm>
              <a:off x="401443" y="1490636"/>
              <a:ext cx="2163336" cy="26314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fr-FR" sz="1100" dirty="0"/>
                <a:t>Prix perçu à justifier par le contenu 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Genre à différencier dans un segment concurrentiel 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Expérience PC attendue comme solide dès le lancement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Jeu immédiatement comparé aux références du segment</a:t>
              </a:r>
            </a:p>
            <a:p>
              <a:endParaRPr lang="fr-FR" sz="1100" b="1" dirty="0">
                <a:solidFill>
                  <a:srgbClr val="FF4458"/>
                </a:solidFill>
                <a:sym typeface="Wingdings" panose="05000000000000000000" pitchFamily="2" charset="2"/>
              </a:endParaRPr>
            </a:p>
            <a:p>
              <a:r>
                <a:rPr lang="fr-FR" sz="1100" dirty="0"/>
                <a:t>Pour Ubisoft, le sujet n’est pas la visibilité initiale, mais la cohérence entre ambition AAA, prix, cible et attentes des joueurs PC.</a:t>
              </a:r>
              <a:endParaRPr lang="fr-FR" sz="1100" b="1" dirty="0">
                <a:solidFill>
                  <a:srgbClr val="FF4458"/>
                </a:solidFill>
                <a:sym typeface="Wingdings" panose="05000000000000000000" pitchFamily="2" charset="2"/>
              </a:endParaRPr>
            </a:p>
          </p:txBody>
        </p:sp>
      </p:grp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476DA4D0-8ABC-27C2-4A7F-33DEDBF6C3A7}"/>
              </a:ext>
            </a:extLst>
          </p:cNvPr>
          <p:cNvGrpSpPr/>
          <p:nvPr/>
        </p:nvGrpSpPr>
        <p:grpSpPr>
          <a:xfrm>
            <a:off x="5900257" y="691085"/>
            <a:ext cx="2448289" cy="3286180"/>
            <a:chOff x="304800" y="721112"/>
            <a:chExt cx="2349191" cy="3992137"/>
          </a:xfrm>
        </p:grpSpPr>
        <p:sp>
          <p:nvSpPr>
            <p:cNvPr id="22" name="Rectangle : coins arrondis 21">
              <a:extLst>
                <a:ext uri="{FF2B5EF4-FFF2-40B4-BE49-F238E27FC236}">
                  <a16:creationId xmlns:a16="http://schemas.microsoft.com/office/drawing/2014/main" id="{806030E9-39CD-B315-018E-5EE0CDD77516}"/>
                </a:ext>
              </a:extLst>
            </p:cNvPr>
            <p:cNvSpPr/>
            <p:nvPr/>
          </p:nvSpPr>
          <p:spPr>
            <a:xfrm>
              <a:off x="304800" y="721112"/>
              <a:ext cx="2349190" cy="3992137"/>
            </a:xfrm>
            <a:prstGeom prst="roundRect">
              <a:avLst/>
            </a:prstGeom>
            <a:noFill/>
            <a:ln>
              <a:solidFill>
                <a:srgbClr val="31496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3" name="ZoneTexte 22">
              <a:extLst>
                <a:ext uri="{FF2B5EF4-FFF2-40B4-BE49-F238E27FC236}">
                  <a16:creationId xmlns:a16="http://schemas.microsoft.com/office/drawing/2014/main" id="{81F51388-1690-1FC5-B636-4B75AD6D38DE}"/>
                </a:ext>
              </a:extLst>
            </p:cNvPr>
            <p:cNvSpPr txBox="1"/>
            <p:nvPr/>
          </p:nvSpPr>
          <p:spPr>
            <a:xfrm>
              <a:off x="304801" y="819985"/>
              <a:ext cx="234919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300" dirty="0"/>
                <a:t>Une réception publique à maitriser</a:t>
              </a:r>
            </a:p>
          </p:txBody>
        </p: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5C609180-2056-214F-31B4-FE886F3FBD75}"/>
                </a:ext>
              </a:extLst>
            </p:cNvPr>
            <p:cNvCxnSpPr/>
            <p:nvPr/>
          </p:nvCxnSpPr>
          <p:spPr>
            <a:xfrm>
              <a:off x="401443" y="1312428"/>
              <a:ext cx="2163336" cy="0"/>
            </a:xfrm>
            <a:prstGeom prst="line">
              <a:avLst/>
            </a:prstGeom>
            <a:ln>
              <a:solidFill>
                <a:srgbClr val="31496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ZoneTexte 24">
              <a:extLst>
                <a:ext uri="{FF2B5EF4-FFF2-40B4-BE49-F238E27FC236}">
                  <a16:creationId xmlns:a16="http://schemas.microsoft.com/office/drawing/2014/main" id="{E53A76FD-B10F-D402-D31E-3EFC9A79E0E3}"/>
                </a:ext>
              </a:extLst>
            </p:cNvPr>
            <p:cNvSpPr txBox="1"/>
            <p:nvPr/>
          </p:nvSpPr>
          <p:spPr>
            <a:xfrm>
              <a:off x="397727" y="1411301"/>
              <a:ext cx="2163336" cy="24622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Tx/>
                <a:buChar char="-"/>
              </a:pPr>
              <a:r>
                <a:rPr lang="fr-FR" sz="1100" dirty="0"/>
                <a:t>Attentes élevées envers les jeux AAA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 err="1"/>
                <a:t>Reviews</a:t>
              </a:r>
              <a:r>
                <a:rPr lang="fr-FR" sz="1100" dirty="0"/>
                <a:t> amplifiées par l’exposition communautaire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Scores sensibles au contexte et à l’ancienneté</a:t>
              </a:r>
            </a:p>
            <a:p>
              <a:pPr marL="171450" indent="-171450">
                <a:buFontTx/>
                <a:buChar char="-"/>
              </a:pPr>
              <a:r>
                <a:rPr lang="fr-FR" sz="1100" dirty="0"/>
                <a:t>Risques : controverses, </a:t>
              </a:r>
              <a:r>
                <a:rPr lang="fr-FR" sz="1100" dirty="0" err="1"/>
                <a:t>review</a:t>
              </a:r>
              <a:r>
                <a:rPr lang="fr-FR" sz="1100" dirty="0"/>
                <a:t> </a:t>
              </a:r>
              <a:r>
                <a:rPr lang="fr-FR" sz="1100" dirty="0" err="1"/>
                <a:t>bombing</a:t>
              </a:r>
              <a:endParaRPr lang="fr-FR" sz="1100" dirty="0"/>
            </a:p>
            <a:p>
              <a:pPr marL="171450" indent="-171450">
                <a:buFontTx/>
                <a:buChar char="-"/>
              </a:pPr>
              <a:endParaRPr lang="fr-FR" sz="1100" dirty="0"/>
            </a:p>
            <a:p>
              <a:r>
                <a:rPr lang="fr-FR" sz="1100" dirty="0"/>
                <a:t>Sur Steam, la réception utilisateur peut rapidement cristalliser l’écart entre promesse AAA, attentes des joueurs et expérience réellement perçue.</a:t>
              </a: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C50CF911-8809-5710-9B25-3BAE85031E8D}"/>
              </a:ext>
            </a:extLst>
          </p:cNvPr>
          <p:cNvSpPr txBox="1"/>
          <p:nvPr/>
        </p:nvSpPr>
        <p:spPr>
          <a:xfrm>
            <a:off x="43360" y="4208617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Le principal risque n’est pas l’invisibilité, mais le décalage entre promesse AAA, expérience réellement proposée et réception communautaire.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DBD0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4"/>
          <p:cNvSpPr txBox="1">
            <a:spLocks noGrp="1"/>
          </p:cNvSpPr>
          <p:nvPr>
            <p:ph type="ctrTitle" idx="4294967295"/>
          </p:nvPr>
        </p:nvSpPr>
        <p:spPr>
          <a:xfrm>
            <a:off x="1089725" y="1970775"/>
            <a:ext cx="62691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fr-FR" sz="5200" b="0" i="0" u="none" strike="noStrike" cap="non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Des questions ?</a:t>
            </a:r>
            <a:endParaRPr sz="5200" b="0" i="0" u="none" strike="noStrike" cap="none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168" name="Google Shape;168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8625" y="3006625"/>
            <a:ext cx="4599299" cy="213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2375" y="915775"/>
            <a:ext cx="797425" cy="83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4464</TotalTime>
  <Words>736</Words>
  <Application>Microsoft Office PowerPoint</Application>
  <PresentationFormat>Affichage à l'écran (16:9)</PresentationFormat>
  <Paragraphs>95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7</vt:i4>
      </vt:variant>
    </vt:vector>
  </HeadingPairs>
  <TitlesOfParts>
    <vt:vector size="13" baseType="lpstr">
      <vt:lpstr>Inter Medium</vt:lpstr>
      <vt:lpstr>Arial</vt:lpstr>
      <vt:lpstr>Wingdings</vt:lpstr>
      <vt:lpstr>Inter SemiBold</vt:lpstr>
      <vt:lpstr>Simple Light</vt:lpstr>
      <vt:lpstr>1_Simple Light</vt:lpstr>
      <vt:lpstr>Projet Steam</vt:lpstr>
      <vt:lpstr>Dataset Steam : périmètre, structure et limites</vt:lpstr>
      <vt:lpstr>Structure du catalogue Steam</vt:lpstr>
      <vt:lpstr>Genres et plateformes</vt:lpstr>
      <vt:lpstr>Prix, âge et réception utilisateur</vt:lpstr>
      <vt:lpstr>Conclusion</vt:lpstr>
      <vt:lpstr>Des 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Jyv</dc:creator>
  <cp:lastModifiedBy>Antoine C</cp:lastModifiedBy>
  <cp:revision>32</cp:revision>
  <dcterms:modified xsi:type="dcterms:W3CDTF">2026-06-23T16:50:15Z</dcterms:modified>
</cp:coreProperties>
</file>